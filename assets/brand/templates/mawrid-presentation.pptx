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9fc942e13c45e1" /><Relationship Type="http://schemas.openxmlformats.org/officeDocument/2006/relationships/extended-properties" Target="/docProps/app.xml" Id="R04b10b2e5c5f4227" /><Relationship Type="http://schemas.openxmlformats.org/officeDocument/2006/relationships/officeDocument" Target="/ppt/presentation.xml" Id="R8858b8a765bd45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a8d1c6bfe4ced"/>
  </p:sldMasterIdLst>
  <p:notesMasterIdLst>
    <p:notesMasterId xmlns:r="http://schemas.openxmlformats.org/officeDocument/2006/relationships" r:id="R926902b05c9b446b"/>
  </p:notesMasterIdLst>
  <p:sldIdLst>
    <p:sldId xmlns:r="http://schemas.openxmlformats.org/officeDocument/2006/relationships" id="256" r:id="R68f1631cca6a4afd"/>
    <p:sldId xmlns:r="http://schemas.openxmlformats.org/officeDocument/2006/relationships" id="257" r:id="R62b670132a3a4a37"/>
    <p:sldId xmlns:r="http://schemas.openxmlformats.org/officeDocument/2006/relationships" id="258" r:id="R9839e7e126794bde"/>
    <p:sldId xmlns:r="http://schemas.openxmlformats.org/officeDocument/2006/relationships" id="259" r:id="R47f2bd611d8843c2"/>
    <p:sldId xmlns:r="http://schemas.openxmlformats.org/officeDocument/2006/relationships" id="260" r:id="Rb036ad8cd87f4f55"/>
    <p:sldId xmlns:r="http://schemas.openxmlformats.org/officeDocument/2006/relationships" id="261" r:id="R2adbb59f4e6c4a28"/>
    <p:sldId xmlns:r="http://schemas.openxmlformats.org/officeDocument/2006/relationships" id="262" r:id="R7f1f268d9bcd4170"/>
    <p:sldId xmlns:r="http://schemas.openxmlformats.org/officeDocument/2006/relationships" id="263" r:id="R54f01b5790c946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db4cbca0314db5" /><Relationship Type="http://schemas.openxmlformats.org/officeDocument/2006/relationships/slideMaster" Target="/ppt/slideMasters/slideMaster1.xml" Id="Rbfba8d1c6bfe4ced" /><Relationship Type="http://schemas.openxmlformats.org/officeDocument/2006/relationships/notesMaster" Target="/ppt/notesMasters/notesMaster1.xml" Id="R926902b05c9b446b" /><Relationship Type="http://schemas.openxmlformats.org/officeDocument/2006/relationships/presProps" Target="/ppt/presProps.xml" Id="Rfd731381b56b40b1" /><Relationship Type="http://schemas.openxmlformats.org/officeDocument/2006/relationships/tableStyles" Target="/ppt/tableStyles.xml" Id="Reccefb5d592342c2" /><Relationship Type="http://schemas.openxmlformats.org/officeDocument/2006/relationships/slide" Target="/ppt/slides/slide1.xml" Id="R68f1631cca6a4afd" /><Relationship Type="http://schemas.openxmlformats.org/officeDocument/2006/relationships/slide" Target="/ppt/slides/slide2.xml" Id="R62b670132a3a4a37" /><Relationship Type="http://schemas.openxmlformats.org/officeDocument/2006/relationships/slide" Target="/ppt/slides/slide3.xml" Id="R9839e7e126794bde" /><Relationship Type="http://schemas.openxmlformats.org/officeDocument/2006/relationships/slide" Target="/ppt/slides/slide4.xml" Id="R47f2bd611d8843c2" /><Relationship Type="http://schemas.openxmlformats.org/officeDocument/2006/relationships/slide" Target="/ppt/slides/slide5.xml" Id="Rb036ad8cd87f4f55" /><Relationship Type="http://schemas.openxmlformats.org/officeDocument/2006/relationships/slide" Target="/ppt/slides/slide6.xml" Id="R2adbb59f4e6c4a28" /><Relationship Type="http://schemas.openxmlformats.org/officeDocument/2006/relationships/slide" Target="/ppt/slides/slide7.xml" Id="R7f1f268d9bcd4170" /><Relationship Type="http://schemas.openxmlformats.org/officeDocument/2006/relationships/slide" Target="/ppt/slides/slide8.xml" Id="R54f01b5790c946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d05533e0b248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AWRID · Campus Light">
      <a:dk1>
        <a:srgbClr val="243D38"/>
      </a:dk1>
      <a:lt1>
        <a:srgbClr val="F7FAF6"/>
      </a:lt1>
      <a:dk2>
        <a:srgbClr val="123E35"/>
      </a:dk2>
      <a:lt2>
        <a:srgbClr val="E9F3EF"/>
      </a:lt2>
      <a:accent1>
        <a:srgbClr val="123E35"/>
      </a:accent1>
      <a:accent2>
        <a:srgbClr val="39786A"/>
      </a:accent2>
      <a:accent3>
        <a:srgbClr val="B4CFBA"/>
      </a:accent3>
      <a:accent4>
        <a:srgbClr val="D9CCBA"/>
      </a:accent4>
      <a:accent5>
        <a:srgbClr val="E9F3EF"/>
      </a:accent5>
      <a:accent6>
        <a:srgbClr val="243D38"/>
      </a:accent6>
      <a:hlink>
        <a:srgbClr val="39786A"/>
      </a:hlink>
      <a:folHlink>
        <a:srgbClr val="123E35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AWRID · Campus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f8b7aa8b0c448b" /><Relationship Type="http://schemas.openxmlformats.org/officeDocument/2006/relationships/notesMaster" Target="/ppt/notesMasters/notesMaster1.xml" Id="R44bd7bfdb15a49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bc0c70c6b48d2" /><Relationship Type="http://schemas.openxmlformats.org/officeDocument/2006/relationships/notesMaster" Target="/ppt/notesMasters/notesMaster1.xml" Id="Rad12747c1ccb45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c07facd5064478" /><Relationship Type="http://schemas.openxmlformats.org/officeDocument/2006/relationships/notesMaster" Target="/ppt/notesMasters/notesMaster1.xml" Id="Ra511817ae76949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5a16a88a524339" /><Relationship Type="http://schemas.openxmlformats.org/officeDocument/2006/relationships/notesMaster" Target="/ppt/notesMasters/notesMaster1.xml" Id="R0e82d8f895b647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8c948dbe20498d" /><Relationship Type="http://schemas.openxmlformats.org/officeDocument/2006/relationships/notesMaster" Target="/ppt/notesMasters/notesMaster1.xml" Id="Ra3f10a02cd4b4f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fdb55954f8495c" /><Relationship Type="http://schemas.openxmlformats.org/officeDocument/2006/relationships/notesMaster" Target="/ppt/notesMasters/notesMaster1.xml" Id="R5ca3cb49ae9e4f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bcd56e009c4706" /><Relationship Type="http://schemas.openxmlformats.org/officeDocument/2006/relationships/notesMaster" Target="/ppt/notesMasters/notesMaster1.xml" Id="Rbe8c8e240a4349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25e53484014736" /><Relationship Type="http://schemas.openxmlformats.org/officeDocument/2006/relationships/notesMaster" Target="/ppt/notesMasters/notesMaster1.xml" Id="Rcdc71a89611842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rtl="1"/>
            <a:r>
              <a:t>المصدر: docs/project-brief.md, assets/images/campus-concept.prompt.md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rtl="1"/>
            <a:r>
              <a:t>مورد في مرحلة التصميم المفاهيمي. صور الحرم الجامعي مولّدة ولا توثق موقعًا منفذًا أو شراكة. النصوص والأشكال والجداول قابلة للتعديل.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rtl="1"/>
            <a:r>
              <a:t>المصدر: docs/project-brief.md, assets/images/campus-ablution.prompt.md</a:t>
            </a:r>
          </a:p>
          <a:p xmlns:a="http://schemas.openxmlformats.org/drawingml/2006/main">
            <a:pPr rtl="1"/>
            <a:r>
              <a:t>وجود مصدر قابل للفصل وطلب ري مناسب فرضية موقع تحتاج قياسًا. لا كمية هدر أو وفر مثبتة للجامعة.</a:t>
            </a:r>
          </a:p>
          <a:p xmlns:a="http://schemas.openxmlformats.org/drawingml/2006/main">
            <a:pPr rtl="1"/>
            <a:r>
              <a:t>مورد في مرحلة التصميم المفاهيمي. صور الحرم الجامعي مولّدة ولا توثق موقعًا منفذًا أو شراكة. النصوص والأشكال والجداول قابلة للتعديل.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rtl="1"/>
            <a:r>
              <a:t>المصدر: docs/project-brief.md, docs/system-design.md</a:t>
            </a:r>
          </a:p>
          <a:p xmlns:a="http://schemas.openxmlformats.org/drawingml/2006/main">
            <a:pPr rtl="1"/>
            <a:r>
              <a:t>المخطط يشرح المسار المقترح. الحساسات تراقب شروط التشغيل ولا تثبت وحدها ملاءمة الماء للاستخدام.</a:t>
            </a:r>
          </a:p>
          <a:p xmlns:a="http://schemas.openxmlformats.org/drawingml/2006/main">
            <a:pPr rtl="1"/>
            <a:r>
              <a:t>مورد في مرحلة التصميم المفاهيمي. صور الحرم الجامعي مولّدة ولا توثق موقعًا منفذًا أو شراكة. النصوص والأشكال والجداول قابلة للتعديل.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rtl="1"/>
            <a:r>
              <a:t>المصدر: docs/project-brief.md, docs/system-design.md, assets/images/campus-maintenance.prompt.md</a:t>
            </a:r>
          </a:p>
          <a:p xmlns:a="http://schemas.openxmlformats.org/drawingml/2006/main">
            <a:pPr rtl="1"/>
            <a:r>
              <a:t>رسم الوحدة تصوري. الصورة لا تثبت أبعادًا أو مواصفات هندسية نهائية. خرطوشة النخيل جزء مشروط بنجاح المقارنة.</a:t>
            </a:r>
          </a:p>
          <a:p xmlns:a="http://schemas.openxmlformats.org/drawingml/2006/main">
            <a:pPr rtl="1"/>
            <a:r>
              <a:t>مورد في مرحلة التصميم المفاهيمي. صور الحرم الجامعي مولّدة ولا توثق موقعًا منفذًا أو شراكة. النصوص والأشكال والجداول قابلة للتعديل.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rtl="1"/>
            <a:r>
              <a:t>المصدر: docs/project-brief.md, docs/innovation.md, docs/validation.md</a:t>
            </a:r>
          </a:p>
          <a:p xmlns:a="http://schemas.openxmlformats.org/drawingml/2006/main">
            <a:pPr rtl="1"/>
            <a:r>
              <a:t>لا نتائج أداء أو سعر مثبتة لمادة مورد. المحلية والاستدامة والتكلفة المنخفضة فرضيات تنتظر الدليل.</a:t>
            </a:r>
          </a:p>
          <a:p xmlns:a="http://schemas.openxmlformats.org/drawingml/2006/main">
            <a:pPr rtl="1"/>
            <a:r>
              <a:t>مورد في مرحلة التصميم المفاهيمي. صور الحرم الجامعي مولّدة ولا توثق موقعًا منفذًا أو شراكة. النصوص والأشكال والجداول قابلة للتعديل.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rtl="1"/>
            <a:r>
              <a:t>المصدر: docs/evidence-register.md, docs/project-brief.md</a:t>
            </a:r>
          </a:p>
          <a:p xmlns:a="http://schemas.openxmlformats.org/drawingml/2006/main">
            <a:pPr rtl="1"/>
            <a:r>
              <a:t>لا سجل نتائج معالجة فعلية لمورد أو شراكة وموافقة موقع مؤكدة في المستودع. الدراسات الخارجية ليست نتائج لمورد.</a:t>
            </a:r>
          </a:p>
          <a:p xmlns:a="http://schemas.openxmlformats.org/drawingml/2006/main">
            <a:pPr rtl="1"/>
            <a:r>
              <a:t>مورد في مرحلة التصميم المفاهيمي. صور الحرم الجامعي مولّدة ولا توثق موقعًا منفذًا أو شراكة. النصوص والأشكال والجداول قابلة للتعديل.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rtl="1"/>
            <a:r>
              <a:t>المصدر: docs/validation.md, docs/project-brief.md, docs/roadmap.md</a:t>
            </a:r>
          </a:p>
          <a:p xmlns:a="http://schemas.openxmlformats.org/drawingml/2006/main">
            <a:pPr rtl="1"/>
            <a:r>
              <a:t>الخطوات مقترحة ولم تكتمل. لا ري ميداني في الدراسة المخبرية الأولى. تحدد المراجعة المتطلبات والمؤشرات المنطبقة قبل التطبيق.</a:t>
            </a:r>
          </a:p>
          <a:p xmlns:a="http://schemas.openxmlformats.org/drawingml/2006/main">
            <a:pPr rtl="1"/>
            <a:r>
              <a:t>مورد في مرحلة التصميم المفاهيمي. صور الحرم الجامعي مولّدة ولا توثق موقعًا منفذًا أو شراكة. النصوص والأشكال والجداول قابلة للتعديل.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rtl="1"/>
            <a:r>
              <a:t>المصدر: docs/project-brief.md, assets/images/campus-irrigation.prompt.md</a:t>
            </a:r>
          </a:p>
          <a:p xmlns:a="http://schemas.openxmlformats.org/drawingml/2006/main">
            <a:pPr rtl="1"/>
            <a:r>
              <a:t>إضافة اسم الفريق ووسيلة التواصل تكون في نسخة العرض الخاصة بالفريق. لا ادعاء وفر ميداني قبل القياس.</a:t>
            </a:r>
          </a:p>
          <a:p xmlns:a="http://schemas.openxmlformats.org/drawingml/2006/main">
            <a:pPr rtl="1"/>
            <a:r>
              <a:t>مورد في مرحلة التصميم المفاهيمي. صور الحرم الجامعي مولّدة ولا توثق موقعًا منفذًا أو شراكة. النصوص والأشكال والجداول قابلة للتعديل.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67efdb31349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ba21a697748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a5cb3525348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48858917e4c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29745e6604c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5b56a38e548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6E235D-5DDC-4F01-8954-2DE026AEFE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5C8A30-2960-4E93-A497-224D75EA84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C816F3-437C-4C62-9C92-D89BAD1F4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D191B-9112-40DE-A05F-EF8BFD1F84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A161F3-72D2-4D3B-BCED-367A22B139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CA8FBC-1FE7-4DB2-A0A6-6B6F73C19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2485EF-D543-4114-A81A-E38C4B0ACE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24E6ED-FF90-43FB-B845-E993A06EFA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C90E47-6B64-4B1F-8F4F-3F3888D10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B6009A-44E4-498F-B089-5F98FF50A2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cd1fb576cb48bd" /><Relationship Type="http://schemas.openxmlformats.org/officeDocument/2006/relationships/slideLayout" Target="/ppt/slideLayouts/slideLayout1.xml" Id="R633e6b57b7074e46" /><Relationship Type="http://schemas.openxmlformats.org/officeDocument/2006/relationships/slideLayout" Target="/ppt/slideLayouts/slideLayout2.xml" Id="R1c7398f0dde441dc" /><Relationship Type="http://schemas.openxmlformats.org/officeDocument/2006/relationships/slideLayout" Target="/ppt/slideLayouts/slideLayout3.xml" Id="Rc4bd54905d5d4352" /><Relationship Type="http://schemas.openxmlformats.org/officeDocument/2006/relationships/slideLayout" Target="/ppt/slideLayouts/slideLayout4.xml" Id="Rb69ae04d30974520" /><Relationship Type="http://schemas.openxmlformats.org/officeDocument/2006/relationships/slideLayout" Target="/ppt/slideLayouts/slideLayout5.xml" Id="R68d6e34ed29f4297" /><Relationship Type="http://schemas.openxmlformats.org/officeDocument/2006/relationships/slideLayout" Target="/ppt/slideLayouts/slideLayout6.xml" Id="R7677695842e345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3e6b57b7074e46"/>
    <p:sldLayoutId xmlns:r="http://schemas.openxmlformats.org/officeDocument/2006/relationships" id="2147483650" r:id="R1c7398f0dde441dc"/>
    <p:sldLayoutId xmlns:r="http://schemas.openxmlformats.org/officeDocument/2006/relationships" id="2147483651" r:id="Rc4bd54905d5d4352"/>
    <p:sldLayoutId xmlns:r="http://schemas.openxmlformats.org/officeDocument/2006/relationships" id="2147483652" r:id="Rb69ae04d30974520"/>
    <p:sldLayoutId xmlns:r="http://schemas.openxmlformats.org/officeDocument/2006/relationships" id="2147483653" r:id="R68d6e34ed29f4297"/>
    <p:sldLayoutId xmlns:r="http://schemas.openxmlformats.org/officeDocument/2006/relationships" id="2147483654" r:id="R7677695842e345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AWRID · Campus Light">
      <a:dk1>
        <a:srgbClr val="243D38"/>
      </a:dk1>
      <a:lt1>
        <a:srgbClr val="F7FAF6"/>
      </a:lt1>
      <a:dk2>
        <a:srgbClr val="123E35"/>
      </a:dk2>
      <a:lt2>
        <a:srgbClr val="E9F3EF"/>
      </a:lt2>
      <a:accent1>
        <a:srgbClr val="123E35"/>
      </a:accent1>
      <a:accent2>
        <a:srgbClr val="39786A"/>
      </a:accent2>
      <a:accent3>
        <a:srgbClr val="B4CFBA"/>
      </a:accent3>
      <a:accent4>
        <a:srgbClr val="D9CCBA"/>
      </a:accent4>
      <a:accent5>
        <a:srgbClr val="E9F3EF"/>
      </a:accent5>
      <a:accent6>
        <a:srgbClr val="243D38"/>
      </a:accent6>
      <a:hlink>
        <a:srgbClr val="39786A"/>
      </a:hlink>
      <a:folHlink>
        <a:srgbClr val="123E35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AWRID · Campus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e5979c11040a1" /><Relationship Type="http://schemas.openxmlformats.org/officeDocument/2006/relationships/image" Target="/ppt/media/image.png" Id="Rcb0ee78747ce4f1d" /><Relationship Type="http://schemas.openxmlformats.org/officeDocument/2006/relationships/image" Target="/ppt/media/image.svg" Id="R0836db0d30d248ae" /><Relationship Type="http://schemas.openxmlformats.org/officeDocument/2006/relationships/image" Target="/ppt/media/image2.png" Id="Rb5d741644ca34267" /><Relationship Type="http://schemas.openxmlformats.org/officeDocument/2006/relationships/image" Target="/ppt/media/image3.png" Id="Rcd39364a1b934acb" /><Relationship Type="http://schemas.openxmlformats.org/officeDocument/2006/relationships/image" Target="/ppt/media/image2.svg" Id="R70d7d9d964d64a82" /><Relationship Type="http://schemas.openxmlformats.org/officeDocument/2006/relationships/notesSlide" Target="/ppt/notesSlides/notesSlide1.xml" Id="R77529b2626014b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d5ac2d7874f59" /><Relationship Type="http://schemas.openxmlformats.org/officeDocument/2006/relationships/image" Target="/ppt/media/image4.png" Id="R64fdb3edc7194f36" /><Relationship Type="http://schemas.openxmlformats.org/officeDocument/2006/relationships/image" Target="/ppt/media/image3.svg" Id="R9f41fbf83f1444ae" /><Relationship Type="http://schemas.openxmlformats.org/officeDocument/2006/relationships/image" Target="/ppt/media/image5.png" Id="Reeb243d020544e3c" /><Relationship Type="http://schemas.openxmlformats.org/officeDocument/2006/relationships/notesSlide" Target="/ppt/notesSlides/notesSlide2.xml" Id="R8a17600388034c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31f5c69714eca" /><Relationship Type="http://schemas.openxmlformats.org/officeDocument/2006/relationships/image" Target="/ppt/media/image6.png" Id="R7c21672b4a664f4e" /><Relationship Type="http://schemas.openxmlformats.org/officeDocument/2006/relationships/image" Target="/ppt/media/image4.svg" Id="R56dbc592eff04aa8" /><Relationship Type="http://schemas.openxmlformats.org/officeDocument/2006/relationships/notesSlide" Target="/ppt/notesSlides/notesSlide3.xml" Id="Ra5952956532944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a09434fdd4320" /><Relationship Type="http://schemas.openxmlformats.org/officeDocument/2006/relationships/image" Target="/ppt/media/image7.png" Id="R7143455c786147c2" /><Relationship Type="http://schemas.openxmlformats.org/officeDocument/2006/relationships/image" Target="/ppt/media/image5.svg" Id="R7fa77740c709484f" /><Relationship Type="http://schemas.openxmlformats.org/officeDocument/2006/relationships/image" Target="/ppt/media/image8.png" Id="R22fd83fa980e4795" /><Relationship Type="http://schemas.openxmlformats.org/officeDocument/2006/relationships/notesSlide" Target="/ppt/notesSlides/notesSlide4.xml" Id="R12db4273e80a48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2a77055a24496" /><Relationship Type="http://schemas.openxmlformats.org/officeDocument/2006/relationships/image" Target="/ppt/media/image9.png" Id="Rbed1e80b28e44e7d" /><Relationship Type="http://schemas.openxmlformats.org/officeDocument/2006/relationships/image" Target="/ppt/media/image6.svg" Id="R3704a1bd6cb6477f" /><Relationship Type="http://schemas.openxmlformats.org/officeDocument/2006/relationships/notesSlide" Target="/ppt/notesSlides/notesSlide5.xml" Id="R6cadea72989d40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8422b2f4f4afb" /><Relationship Type="http://schemas.openxmlformats.org/officeDocument/2006/relationships/image" Target="/ppt/media/image10.png" Id="R6a7dc26fa2a641de" /><Relationship Type="http://schemas.openxmlformats.org/officeDocument/2006/relationships/image" Target="/ppt/media/image7.svg" Id="R0fcf890b5ad14b37" /><Relationship Type="http://schemas.openxmlformats.org/officeDocument/2006/relationships/notesSlide" Target="/ppt/notesSlides/notesSlide6.xml" Id="R3ff9e32fec6346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bbd26986a345d9" /><Relationship Type="http://schemas.openxmlformats.org/officeDocument/2006/relationships/image" Target="/ppt/media/image11.png" Id="R27eb6b8752794b5e" /><Relationship Type="http://schemas.openxmlformats.org/officeDocument/2006/relationships/image" Target="/ppt/media/image8.svg" Id="R56a7754beb154ee0" /><Relationship Type="http://schemas.openxmlformats.org/officeDocument/2006/relationships/notesSlide" Target="/ppt/notesSlides/notesSlide7.xml" Id="R6950c386a3a74b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a32186646476c" /><Relationship Type="http://schemas.openxmlformats.org/officeDocument/2006/relationships/image" Target="/ppt/media/image12.png" Id="Rd9d2cdafe99f4b65" /><Relationship Type="http://schemas.openxmlformats.org/officeDocument/2006/relationships/image" Target="/ppt/media/image9.svg" Id="R638c17aeed2e46bb" /><Relationship Type="http://schemas.openxmlformats.org/officeDocument/2006/relationships/image" Target="/ppt/media/image13.png" Id="Re259a148524e4832" /><Relationship Type="http://schemas.openxmlformats.org/officeDocument/2006/relationships/image" Target="/ppt/media/image14.png" Id="Rd0934f86e54947c9" /><Relationship Type="http://schemas.openxmlformats.org/officeDocument/2006/relationships/image" Target="/ppt/media/image10.svg" Id="R8127736d30714305" /><Relationship Type="http://schemas.openxmlformats.org/officeDocument/2006/relationships/notesSlide" Target="/ppt/notesSlides/notesSlide8.xml" Id="R459f966d024f47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F0AE0-AC07-4A61-9A32-04470FBB33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ee78747ce4f1d">
            <a:extLst>
              <a:ext uri="{96DAC541-7B7A-43D3-8B79-37D633B846F1}">
                <asvg:svgBlip xmlns:asvg="http://schemas.microsoft.com/office/drawing/2016/SVG/main" r:embed="R0836db0d30d248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20450" y="6143625"/>
            <a:ext cx="2857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149837BD-4200-427E-9859-372146AA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888B2-C089-41DF-81E3-C0E7153D93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741644ca34267"/>
          <a:stretch xmlns:a="http://schemas.openxmlformats.org/drawingml/2006/main"/>
        </p:blipFill>
        <p:spPr>
          <a:xfrm xmlns:a="http://schemas.openxmlformats.org/drawingml/2006/main">
            <a:off x="609600" y="1362269"/>
            <a:ext cx="6667500" cy="3752463"/>
          </a:xfrm>
          <a:prstGeom xmlns:a="http://schemas.openxmlformats.org/drawingml/2006/main" prst="rect">
            <a:avLst/>
          </a:prstGeom>
        </p:spPr>
      </p:pic>
      <p:sp>
        <p:nvSpPr>
          <p:cNvPr id="4" name="صورة مولّدة · تصور تطبيقي غير منفّذ">
            <a:extLst xmlns:a="http://schemas.openxmlformats.org/drawingml/2006/main">
              <a:ext uri="{FF2B5EF4-FFF2-40B4-BE49-F238E27FC236}">
                <a16:creationId xmlns:a16="http://schemas.microsoft.com/office/drawing/2014/main" id="{446278EB-987D-42DE-9FFD-763DA08D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350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350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rPr>
              <a:t>صورة مولّدة · تصور تطبيقي غير منفّذ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CA14C-433B-44C3-96EF-863C345268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9364a1b934acb">
            <a:extLst>
              <a:ext uri="{96DAC541-7B7A-43D3-8B79-37D633B846F1}">
                <asvg:svgBlip xmlns:asvg="http://schemas.microsoft.com/office/drawing/2016/SVG/main" r:embed="R70d7d9d964d64a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62950" y="1200150"/>
            <a:ext cx="314325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مياه الوضوء،&#10;مورد للري">
            <a:extLst xmlns:a="http://schemas.openxmlformats.org/drawingml/2006/main">
              <a:ext uri="{FF2B5EF4-FFF2-40B4-BE49-F238E27FC236}">
                <a16:creationId xmlns:a16="http://schemas.microsoft.com/office/drawing/2014/main" id="{7F9A3666-AE61-42B1-B7D0-9FCA6C17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14625"/>
            <a:ext cx="38195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12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41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41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مياه الوضوء،</a:t>
            </a:r>
          </a:p>
          <a:p xmlns:a="http://schemas.openxmlformats.org/drawingml/2006/main">
            <a:pPr algn="r" rtl="1">
              <a:defRPr sz="41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41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مورد للري</a:t>
            </a:r>
          </a:p>
        </p:txBody>
      </p:sp>
      <p:sp>
        <p:nvSpPr>
          <p:cNvPr id="7" name="تصميم وحدة محلية لمنشأة جامعية">
            <a:extLst xmlns:a="http://schemas.openxmlformats.org/drawingml/2006/main">
              <a:ext uri="{FF2B5EF4-FFF2-40B4-BE49-F238E27FC236}">
                <a16:creationId xmlns:a16="http://schemas.microsoft.com/office/drawing/2014/main" id="{EC019C3B-08F2-45EF-8AB6-0FB8FDF6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76775"/>
            <a:ext cx="38195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950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950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تصميم وحدة محلية لمنشأة جامعية</a:t>
            </a:r>
          </a:p>
        </p:txBody>
      </p:sp>
    </p:spTree>
    <p:extLst>
      <p:ext uri="{BB962C8B-B14F-4D97-AF65-F5344CB8AC3E}">
        <p14:creationId xmlns:p14="http://schemas.microsoft.com/office/powerpoint/2010/main" val="994497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المصدر والاحتياج">
            <a:extLst xmlns:a="http://schemas.openxmlformats.org/drawingml/2006/main">
              <a:ext uri="{FF2B5EF4-FFF2-40B4-BE49-F238E27FC236}">
                <a16:creationId xmlns:a16="http://schemas.microsoft.com/office/drawing/2014/main" id="{5D1F845F-E4EE-46D7-9A85-AF8A7B9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المصدر والاحتياج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49302-72CD-4AA1-8969-FD12A34275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db3edc7194f36">
            <a:extLst>
              <a:ext uri="{96DAC541-7B7A-43D3-8B79-37D633B846F1}">
                <asvg:svgBlip xmlns:asvg="http://schemas.microsoft.com/office/drawing/2016/SVG/main" r:embed="R9f41fbf83f1444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20450" y="6143625"/>
            <a:ext cx="2857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205DF453-744F-4BE0-AE1E-983A2ECD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CAC99-7E7E-4126-81AE-D22F26DC1B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243d020544e3c"/>
          <a:srcRect xmlns:a="http://schemas.openxmlformats.org/drawingml/2006/main" l="3339" t="0" r="33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6191250" cy="3733800"/>
          </a:xfrm>
          <a:prstGeom xmlns:a="http://schemas.openxmlformats.org/drawingml/2006/main" prst="rect">
            <a:avLst/>
          </a:prstGeom>
        </p:spPr>
      </p:pic>
      <p:sp>
        <p:nvSpPr>
          <p:cNvPr id="5" name="صورة مولّدة · تصور تطبيقي غير منفّذ">
            <a:extLst xmlns:a="http://schemas.openxmlformats.org/drawingml/2006/main">
              <a:ext uri="{FF2B5EF4-FFF2-40B4-BE49-F238E27FC236}">
                <a16:creationId xmlns:a16="http://schemas.microsoft.com/office/drawing/2014/main" id="{8CE983E3-2FCB-4155-8174-B04DC137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350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350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rPr>
              <a:t>صورة مولّدة · تصور تطبيقي غير منفّذ</a:t>
            </a:r>
          </a:p>
        </p:txBody>
      </p:sp>
      <p:sp>
        <p:nvSpPr>
          <p:cNvPr id="6" name="مياه وضوء مفصولة">
            <a:extLst xmlns:a="http://schemas.openxmlformats.org/drawingml/2006/main">
              <a:ext uri="{FF2B5EF4-FFF2-40B4-BE49-F238E27FC236}">
                <a16:creationId xmlns:a16="http://schemas.microsoft.com/office/drawing/2014/main" id="{7500BC7E-54C2-4E8E-BA34-37704132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7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4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4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4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مياه وضوء مفصولة</a:t>
            </a:r>
          </a:p>
        </p:txBody>
      </p:sp>
      <p:sp>
        <p:nvSpPr>
          <p:cNvPr id="7" name="نبدأ بموقع جامعي واحد، ونقيس تدفق المصدر وطلب ال">
            <a:extLst xmlns:a="http://schemas.openxmlformats.org/drawingml/2006/main">
              <a:ext uri="{FF2B5EF4-FFF2-40B4-BE49-F238E27FC236}">
                <a16:creationId xmlns:a16="http://schemas.microsoft.com/office/drawing/2014/main" id="{332B9D40-7335-4F53-AD83-2902BA88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71725"/>
            <a:ext cx="40767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17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نبدأ بموقع جامعي واحد، ونقيس تدفق المصدر وطلب الري القريب.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D6854-D78E-4495-A810-775F1C2F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71925"/>
            <a:ext cx="407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9" name="العميل الأول">
            <a:extLst xmlns:a="http://schemas.openxmlformats.org/drawingml/2006/main">
              <a:ext uri="{FF2B5EF4-FFF2-40B4-BE49-F238E27FC236}">
                <a16:creationId xmlns:a16="http://schemas.microsoft.com/office/drawing/2014/main" id="{BD674BC7-BA08-4605-8BC5-64A771D9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57675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875" b="1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875" b="1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rPr>
              <a:t>العميل الأول</a:t>
            </a:r>
          </a:p>
        </p:txBody>
      </p:sp>
      <p:sp>
        <p:nvSpPr>
          <p:cNvPr id="10" name="إدارة المرافق الجامعية">
            <a:extLst xmlns:a="http://schemas.openxmlformats.org/drawingml/2006/main">
              <a:ext uri="{FF2B5EF4-FFF2-40B4-BE49-F238E27FC236}">
                <a16:creationId xmlns:a16="http://schemas.microsoft.com/office/drawing/2014/main" id="{AE78A216-F1FD-4A42-9DDD-46C78BC4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4076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3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3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إدارة المرافق الجامعية</a:t>
            </a:r>
          </a:p>
        </p:txBody>
      </p:sp>
    </p:spTree>
    <p:extLst>
      <p:ext uri="{BB962C8B-B14F-4D97-AF65-F5344CB8AC3E}">
        <p14:creationId xmlns:p14="http://schemas.microsoft.com/office/powerpoint/2010/main" val="17933793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مسار الماء والقرار">
            <a:extLst xmlns:a="http://schemas.openxmlformats.org/drawingml/2006/main">
              <a:ext uri="{FF2B5EF4-FFF2-40B4-BE49-F238E27FC236}">
                <a16:creationId xmlns:a16="http://schemas.microsoft.com/office/drawing/2014/main" id="{ABEA35BA-3FF2-4F28-9E86-05EFB00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مسار الماء والقرار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50D00-2D12-4657-BB33-5FE847FED0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1672b4a664f4e">
            <a:extLst>
              <a:ext uri="{96DAC541-7B7A-43D3-8B79-37D633B846F1}">
                <asvg:svgBlip xmlns:asvg="http://schemas.microsoft.com/office/drawing/2016/SVG/main" r:embed="R56dbc592eff04a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20450" y="6143625"/>
            <a:ext cx="2857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97957C2-AA8F-4967-AC8C-EFAEB5BF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4" name="كل مرحلة لها وظيفة محددة ودليل يحتاج التحقق">
            <a:extLst xmlns:a="http://schemas.openxmlformats.org/drawingml/2006/main">
              <a:ext uri="{FF2B5EF4-FFF2-40B4-BE49-F238E27FC236}">
                <a16:creationId xmlns:a16="http://schemas.microsoft.com/office/drawing/2014/main" id="{77B95B3B-6C59-4D0F-89AC-A2F23405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100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00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rPr>
              <a:t>كل مرحلة لها وظيفة محددة ودليل يحتاج التحقق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7842A-4B65-4E05-8B02-F7CAC6C3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CFBA"/>
            </a:solidFill>
          </a:ln>
        </p:spPr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F8A3E6B5-09FE-476C-939E-AB27FF7F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52650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الفصل&#10;والتجميع">
            <a:extLst xmlns:a="http://schemas.openxmlformats.org/drawingml/2006/main">
              <a:ext uri="{FF2B5EF4-FFF2-40B4-BE49-F238E27FC236}">
                <a16:creationId xmlns:a16="http://schemas.microsoft.com/office/drawing/2014/main" id="{9D9184CC-0666-4534-860B-C37F64AE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00375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الفصل</a:t>
            </a:r>
          </a:p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والتجميع</a:t>
            </a:r>
          </a:p>
        </p:txBody>
      </p:sp>
      <p:sp>
        <p:nvSpPr>
          <p:cNvPr id="8" name="مصدر وضوء مستقل">
            <a:extLst xmlns:a="http://schemas.openxmlformats.org/drawingml/2006/main">
              <a:ext uri="{FF2B5EF4-FFF2-40B4-BE49-F238E27FC236}">
                <a16:creationId xmlns:a16="http://schemas.microsoft.com/office/drawing/2014/main" id="{DC87C58B-A8ED-4B3D-A246-9892765A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38625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مصدر وضوء مستقل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76E826ED-9FCD-4629-94A4-0FEAE149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الموازنة&#10;والترشيح">
            <a:extLst xmlns:a="http://schemas.openxmlformats.org/drawingml/2006/main">
              <a:ext uri="{FF2B5EF4-FFF2-40B4-BE49-F238E27FC236}">
                <a16:creationId xmlns:a16="http://schemas.microsoft.com/office/drawing/2014/main" id="{D174310D-EE88-4033-9DEB-A316CFF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0375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الموازنة</a:t>
            </a:r>
          </a:p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والترشيح</a:t>
            </a:r>
          </a:p>
        </p:txBody>
      </p:sp>
      <p:sp>
        <p:nvSpPr>
          <p:cNvPr id="11" name="تدفق ومواد عالقة">
            <a:extLst xmlns:a="http://schemas.openxmlformats.org/drawingml/2006/main">
              <a:ext uri="{FF2B5EF4-FFF2-40B4-BE49-F238E27FC236}">
                <a16:creationId xmlns:a16="http://schemas.microsoft.com/office/drawing/2014/main" id="{C39AADC7-8DF0-43A5-B3E6-E534F792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38625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تدفق ومواد عالقة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BF25DC0E-0EFA-4F84-BA82-E83773CC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الامتزاز&#10;عند الحاجة">
            <a:extLst xmlns:a="http://schemas.openxmlformats.org/drawingml/2006/main">
              <a:ext uri="{FF2B5EF4-FFF2-40B4-BE49-F238E27FC236}">
                <a16:creationId xmlns:a16="http://schemas.microsoft.com/office/drawing/2014/main" id="{2E0726D4-1FFE-4B46-A559-20C6F464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الامتزاز</a:t>
            </a:r>
          </a:p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عند الحاجة</a:t>
            </a:r>
          </a:p>
        </p:txBody>
      </p:sp>
      <p:sp>
        <p:nvSpPr>
          <p:cNvPr id="14" name="مادة تختبر أمام البدائل">
            <a:extLst xmlns:a="http://schemas.openxmlformats.org/drawingml/2006/main">
              <a:ext uri="{FF2B5EF4-FFF2-40B4-BE49-F238E27FC236}">
                <a16:creationId xmlns:a16="http://schemas.microsoft.com/office/drawing/2014/main" id="{A7549342-B880-4C0F-8D38-83BAEE6B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38625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مادة تختبر أمام البدائل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D014E221-DB3C-4419-9B1F-00776985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52650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التعقيم&#10;والتخزين">
            <a:extLst xmlns:a="http://schemas.openxmlformats.org/drawingml/2006/main">
              <a:ext uri="{FF2B5EF4-FFF2-40B4-BE49-F238E27FC236}">
                <a16:creationId xmlns:a16="http://schemas.microsoft.com/office/drawing/2014/main" id="{8294B261-C234-4AFB-AD11-5433BDC7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0375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التعقيم</a:t>
            </a:r>
          </a:p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والتخزين</a:t>
            </a:r>
          </a:p>
        </p:txBody>
      </p:sp>
      <p:sp>
        <p:nvSpPr>
          <p:cNvPr id="17" name="شروط عملية معلنة">
            <a:extLst xmlns:a="http://schemas.openxmlformats.org/drawingml/2006/main">
              <a:ext uri="{FF2B5EF4-FFF2-40B4-BE49-F238E27FC236}">
                <a16:creationId xmlns:a16="http://schemas.microsoft.com/office/drawing/2014/main" id="{BC9327CC-175E-49CE-A15E-48A8A80D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38625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شروط عملية معلنة</a:t>
            </a:r>
          </a:p>
        </p:txBody>
      </p:sp>
      <p:sp>
        <p:nvSpPr>
          <p:cNvPr id="18" name="05">
            <a:extLst xmlns:a="http://schemas.openxmlformats.org/drawingml/2006/main">
              <a:ext uri="{FF2B5EF4-FFF2-40B4-BE49-F238E27FC236}">
                <a16:creationId xmlns:a16="http://schemas.microsoft.com/office/drawing/2014/main" id="{9803B006-65CB-4341-A663-3AF95A3F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52650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19" name="حماية&#10;المخرج">
            <a:extLst xmlns:a="http://schemas.openxmlformats.org/drawingml/2006/main">
              <a:ext uri="{FF2B5EF4-FFF2-40B4-BE49-F238E27FC236}">
                <a16:creationId xmlns:a16="http://schemas.microsoft.com/office/drawing/2014/main" id="{3673FBE9-F8EC-4E08-9B52-24660D86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00375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حماية</a:t>
            </a:r>
          </a:p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المخرج</a:t>
            </a:r>
          </a:p>
        </p:txBody>
      </p:sp>
      <p:sp>
        <p:nvSpPr>
          <p:cNvPr id="20" name="تحويل الماء عند الفشل">
            <a:extLst xmlns:a="http://schemas.openxmlformats.org/drawingml/2006/main">
              <a:ext uri="{FF2B5EF4-FFF2-40B4-BE49-F238E27FC236}">
                <a16:creationId xmlns:a16="http://schemas.microsoft.com/office/drawing/2014/main" id="{83B42ECC-DEA3-47EC-B97B-87FB751E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تحويل الماء عند الفشل</a:t>
            </a:r>
          </a:p>
        </p:txBody>
      </p:sp>
      <p:sp>
        <p:nvSpPr>
          <p:cNvPr id="21" name="06">
            <a:extLst xmlns:a="http://schemas.openxmlformats.org/drawingml/2006/main">
              <a:ext uri="{FF2B5EF4-FFF2-40B4-BE49-F238E27FC236}">
                <a16:creationId xmlns:a16="http://schemas.microsoft.com/office/drawing/2014/main" id="{6641A6E1-8802-4104-8F51-7F351DD2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22" name="الري&#10;والقياس">
            <a:extLst xmlns:a="http://schemas.openxmlformats.org/drawingml/2006/main">
              <a:ext uri="{FF2B5EF4-FFF2-40B4-BE49-F238E27FC236}">
                <a16:creationId xmlns:a16="http://schemas.microsoft.com/office/drawing/2014/main" id="{6270723D-298C-4C6C-A3B0-C23F5282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الري</a:t>
            </a:r>
          </a:p>
          <a:p xmlns:a="http://schemas.openxmlformats.org/drawingml/2006/main">
            <a:pPr algn="ct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والقياس</a:t>
            </a:r>
          </a:p>
        </p:txBody>
      </p:sp>
      <p:sp>
        <p:nvSpPr>
          <p:cNvPr id="23" name="قياس الاستخدام الفعلي">
            <a:extLst xmlns:a="http://schemas.openxmlformats.org/drawingml/2006/main">
              <a:ext uri="{FF2B5EF4-FFF2-40B4-BE49-F238E27FC236}">
                <a16:creationId xmlns:a16="http://schemas.microsoft.com/office/drawing/2014/main" id="{961AA5C0-B8F6-4709-8A5E-4ECD1E28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38625"/>
            <a:ext cx="1695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ctr" rtl="1">
              <a:def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7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قياس الاستخدام الفعلي</a:t>
            </a:r>
          </a:p>
        </p:txBody>
      </p:sp>
      <p:sp>
        <p:nvSpPr>
          <p:cNvPr id="24" name="الطرق المخبرية تتحقق من جودة الماء للغرض المختار">
            <a:extLst xmlns:a="http://schemas.openxmlformats.org/drawingml/2006/main">
              <a:ext uri="{FF2B5EF4-FFF2-40B4-BE49-F238E27FC236}">
                <a16:creationId xmlns:a16="http://schemas.microsoft.com/office/drawing/2014/main" id="{BBE3F77E-6769-4A9A-9902-1C57E180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الطرق المخبرية تتحقق من جودة الماء للغرض المختار</a:t>
            </a:r>
          </a:p>
        </p:txBody>
      </p:sp>
    </p:spTree>
    <p:extLst>
      <p:ext uri="{BB962C8B-B14F-4D97-AF65-F5344CB8AC3E}">
        <p14:creationId xmlns:p14="http://schemas.microsoft.com/office/powerpoint/2010/main" val="400682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طبقات الوحدة المقترحة">
            <a:extLst xmlns:a="http://schemas.openxmlformats.org/drawingml/2006/main">
              <a:ext uri="{FF2B5EF4-FFF2-40B4-BE49-F238E27FC236}">
                <a16:creationId xmlns:a16="http://schemas.microsoft.com/office/drawing/2014/main" id="{0D21501C-C1A3-437D-A1A3-92A77315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طبقات الوحدة المقترحة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E929D-EBE6-455B-A8AE-6A7463BB0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3455c786147c2">
            <a:extLst>
              <a:ext uri="{96DAC541-7B7A-43D3-8B79-37D633B846F1}">
                <asvg:svgBlip xmlns:asvg="http://schemas.microsoft.com/office/drawing/2016/SVG/main" r:embed="R7fa77740c70948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20450" y="6143625"/>
            <a:ext cx="2857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400C5DBD-FEDA-425B-BB14-E724DB1E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D4B3F-FA83-4004-9461-FC60849A7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d83fa980e4795"/>
          <a:srcRect xmlns:a="http://schemas.openxmlformats.org/drawingml/2006/main" l="7028" t="0" r="70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85925"/>
            <a:ext cx="590550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صورة مولّدة · تصور تطبيقي غير منفّذ">
            <a:extLst xmlns:a="http://schemas.openxmlformats.org/drawingml/2006/main">
              <a:ext uri="{FF2B5EF4-FFF2-40B4-BE49-F238E27FC236}">
                <a16:creationId xmlns:a16="http://schemas.microsoft.com/office/drawing/2014/main" id="{B5E453AB-7673-40E4-987F-1D6C03CE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350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350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rPr>
              <a:t>صورة مولّدة · تصور تطبيقي غير منفّذ</a:t>
            </a:r>
          </a:p>
        </p:txBody>
      </p:sp>
      <p:sp>
        <p:nvSpPr>
          <p:cNvPr id="6" name="ترشيح أولي">
            <a:extLst xmlns:a="http://schemas.openxmlformats.org/drawingml/2006/main">
              <a:ext uri="{FF2B5EF4-FFF2-40B4-BE49-F238E27FC236}">
                <a16:creationId xmlns:a16="http://schemas.microsoft.com/office/drawing/2014/main" id="{3EFCFCB0-336B-44A0-920A-8EEC46A2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81150"/>
            <a:ext cx="4505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ترشيح أولي</a:t>
            </a:r>
          </a:p>
        </p:txBody>
      </p:sp>
      <p:sp>
        <p:nvSpPr>
          <p:cNvPr id="7" name="تهيئة التدفق وإزالة المواد العالقة">
            <a:extLst xmlns:a="http://schemas.openxmlformats.org/drawingml/2006/main">
              <a:ext uri="{FF2B5EF4-FFF2-40B4-BE49-F238E27FC236}">
                <a16:creationId xmlns:a16="http://schemas.microsoft.com/office/drawing/2014/main" id="{945D8066-25A1-4E89-8A15-6FFCA92A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66925"/>
            <a:ext cx="450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800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800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تهيئة التدفق وإزالة المواد العالقة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C99F3-83DE-4431-850E-75C499D3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62225"/>
            <a:ext cx="450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9" name="خرطوشة مادة النخيل">
            <a:extLst xmlns:a="http://schemas.openxmlformats.org/drawingml/2006/main">
              <a:ext uri="{FF2B5EF4-FFF2-40B4-BE49-F238E27FC236}">
                <a16:creationId xmlns:a16="http://schemas.microsoft.com/office/drawing/2014/main" id="{FBA1B954-C89A-43E9-B7ED-76C4425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57475"/>
            <a:ext cx="4505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خرطوشة مادة النخيل</a:t>
            </a:r>
          </a:p>
        </p:txBody>
      </p:sp>
      <p:sp>
        <p:nvSpPr>
          <p:cNvPr id="10" name="امتزاز لمكوّن محدد إذا أثبتت الحاجة">
            <a:extLst xmlns:a="http://schemas.openxmlformats.org/drawingml/2006/main">
              <a:ext uri="{FF2B5EF4-FFF2-40B4-BE49-F238E27FC236}">
                <a16:creationId xmlns:a16="http://schemas.microsoft.com/office/drawing/2014/main" id="{C7571815-B25F-40AC-A488-24D65609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43250"/>
            <a:ext cx="450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800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800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امتزاز لمكوّن محدد إذا أثبتت الحاجة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60610-1E79-4BE4-9D5D-87EF759A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38550"/>
            <a:ext cx="450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12" name="تعقيم وتخزين">
            <a:extLst xmlns:a="http://schemas.openxmlformats.org/drawingml/2006/main">
              <a:ext uri="{FF2B5EF4-FFF2-40B4-BE49-F238E27FC236}">
                <a16:creationId xmlns:a16="http://schemas.microsoft.com/office/drawing/2014/main" id="{48703B6A-7576-4DF6-AD19-5BE52814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33800"/>
            <a:ext cx="4505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تعقيم وتخزين</a:t>
            </a:r>
          </a:p>
        </p:txBody>
      </p:sp>
      <p:sp>
        <p:nvSpPr>
          <p:cNvPr id="13" name="إثبات العملية ومراجعة أثر زمن التخزين">
            <a:extLst xmlns:a="http://schemas.openxmlformats.org/drawingml/2006/main">
              <a:ext uri="{FF2B5EF4-FFF2-40B4-BE49-F238E27FC236}">
                <a16:creationId xmlns:a16="http://schemas.microsoft.com/office/drawing/2014/main" id="{8F06573E-913B-4806-9840-4201E0D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19575"/>
            <a:ext cx="450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800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800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إثبات العملية ومراجعة أثر زمن التخزين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A9CB5-42EF-4592-A74D-82E0B122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14875"/>
            <a:ext cx="450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15" name="حماية وقياس">
            <a:extLst xmlns:a="http://schemas.openxmlformats.org/drawingml/2006/main">
              <a:ext uri="{FF2B5EF4-FFF2-40B4-BE49-F238E27FC236}">
                <a16:creationId xmlns:a16="http://schemas.microsoft.com/office/drawing/2014/main" id="{4C7EE4F2-C5C2-4F2A-9BD9-5EC532C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0125"/>
            <a:ext cx="4505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حماية وقياس</a:t>
            </a:r>
          </a:p>
        </p:txBody>
      </p:sp>
      <p:sp>
        <p:nvSpPr>
          <p:cNvPr id="16" name="مخرج مستقل وسجل ماء استخدم للري">
            <a:extLst xmlns:a="http://schemas.openxmlformats.org/drawingml/2006/main">
              <a:ext uri="{FF2B5EF4-FFF2-40B4-BE49-F238E27FC236}">
                <a16:creationId xmlns:a16="http://schemas.microsoft.com/office/drawing/2014/main" id="{2178D769-2885-4E68-95A0-49728821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95900"/>
            <a:ext cx="4505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800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800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مخرج مستقل وسجل ماء استخدم للري</a:t>
            </a:r>
          </a:p>
        </p:txBody>
      </p:sp>
    </p:spTree>
    <p:extLst>
      <p:ext uri="{BB962C8B-B14F-4D97-AF65-F5344CB8AC3E}">
        <p14:creationId xmlns:p14="http://schemas.microsoft.com/office/powerpoint/2010/main" val="2145420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مقارنة مادة النخيل">
            <a:extLst xmlns:a="http://schemas.openxmlformats.org/drawingml/2006/main">
              <a:ext uri="{FF2B5EF4-FFF2-40B4-BE49-F238E27FC236}">
                <a16:creationId xmlns:a16="http://schemas.microsoft.com/office/drawing/2014/main" id="{637C08EB-B29D-4701-A429-39FA90F3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مقارنة مادة النخيل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0CFF0-B014-4B8A-8CA0-E64D0DE46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1e80b28e44e7d">
            <a:extLst>
              <a:ext uri="{96DAC541-7B7A-43D3-8B79-37D633B846F1}">
                <asvg:svgBlip xmlns:asvg="http://schemas.microsoft.com/office/drawing/2016/SVG/main" r:embed="R3704a1bd6cb647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20450" y="6143625"/>
            <a:ext cx="2857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6EC522A5-77E7-4175-9B2B-3D73663E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4" name="السؤال: هل تضيف قيمة أمام الحل الأبسط والكربون ا">
            <a:extLst xmlns:a="http://schemas.openxmlformats.org/drawingml/2006/main">
              <a:ext uri="{FF2B5EF4-FFF2-40B4-BE49-F238E27FC236}">
                <a16:creationId xmlns:a16="http://schemas.microsoft.com/office/drawing/2014/main" id="{4A7AF376-01B2-42DE-B012-7BEE8EA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175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175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rPr>
              <a:t>السؤال: هل تضيف قيمة أمام الحل الأبسط والكربون التجاري؟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1484B-0DAD-4CF4-8455-C87E3410254B}"/>
              </a:ext>
            </a:extLst>
          </p:cNvPr>
          <p:cNvGraphicFramePr/>
          <p:nvPr/>
        </p:nvGraphicFramePr>
        <p:xfrm>
          <a:off xmlns:a="http://schemas.openxmlformats.org/drawingml/2006/main" x="609600" y="2276475"/>
          <a:ext xmlns:a="http://schemas.openxmlformats.org/drawingml/2006/main" cx="10972800" cy="3133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4191000"/>
                <a:gridCol w="2305050"/>
              </a:tblGrid>
              <a:tr h="626745">
                <a:tc>
                  <a:txBody>
                    <a:bodyPr/>
                    <a:lstStyle/>
                    <a:p>
                      <a:pPr algn="r" rtl="1"/>
                      <a:r>
                        <a:rPr sz="1800" b="1" lang="ar-SA">
                          <a:solidFill>
                            <a:srgbClr val="123E35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ما نقيسه</a:t>
                      </a:r>
                    </a:p>
                  </a:txBody>
                  <a:tcPr marL="133350" marR="152400" marT="114300" marB="114300" anchor="ctr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1" lang="ar-SA">
                          <a:solidFill>
                            <a:srgbClr val="123E35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البدائل في المقارنة</a:t>
                      </a:r>
                    </a:p>
                  </a:txBody>
                  <a:tcPr marL="133350" marR="152400" marT="114300" marB="114300" anchor="ctr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1" lang="ar-SA">
                          <a:solidFill>
                            <a:srgbClr val="123E35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عنصر القرار</a:t>
                      </a:r>
                    </a:p>
                  </a:txBody>
                  <a:tcPr marL="133350" marR="152400" marT="114300" marB="114300" anchor="ctr">
                    <a:solidFill>
                      <a:srgbClr val="E9F3EF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إزالة مكوّن محدد بطرق مخبرية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بدون امتزاز، نخيل، كربون تجاري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الأداء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المركبات والدقائق التي قد تطلقها المادة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عينات وضوابط بشروط متكافئة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أثر المادة في الماء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فقد الضغط ومدة الخدمة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تدفق وحجم سرير معلنان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التشغيل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كلفة التحضير والاستبدال والفحص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عروض أسعار وقياسات فعلية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25" lang="ar-SA">
                          <a:solidFill>
                            <a:srgbClr val="243D38"/>
                          </a:solidFill>
                          <a:latin typeface="IBM Plex Sans Arabic"/>
                          <a:ea typeface="IBM Plex Sans Arabic"/>
                          <a:cs typeface="IBM Plex Sans Arabic"/>
                        </a:rPr>
                        <a:t>التكلفة</a:t>
                      </a:r>
                    </a:p>
                  </a:txBody>
                  <a:tcPr marL="133350" marR="152400" marT="114300" marB="114300" anchor="ctr">
                    <a:solidFill>
                      <a:srgbClr val="F7FAF6"/>
                    </a:solidFill>
                  </a:tcPr>
                </a:tc>
              </a:tr>
            </a:tbl>
          </a:graphicData>
        </a:graphic>
      </p:graphicFrame>
      <p:sp>
        <p:nvSpPr>
          <p:cNvPr id="6" name="قرار الإضافة يتبع نتيجة الاختبار">
            <a:extLst xmlns:a="http://schemas.openxmlformats.org/drawingml/2006/main">
              <a:ext uri="{FF2B5EF4-FFF2-40B4-BE49-F238E27FC236}">
                <a16:creationId xmlns:a16="http://schemas.microsoft.com/office/drawing/2014/main" id="{34BAD780-93B2-40F3-9346-BCCA3969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95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95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قرار الإضافة يتبع نتيجة الاختبار</a:t>
            </a:r>
          </a:p>
        </p:txBody>
      </p:sp>
    </p:spTree>
    <p:extLst>
      <p:ext uri="{BB962C8B-B14F-4D97-AF65-F5344CB8AC3E}">
        <p14:creationId xmlns:p14="http://schemas.microsoft.com/office/powerpoint/2010/main" val="1264290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الأدلة الحالية وما يلزم">
            <a:extLst xmlns:a="http://schemas.openxmlformats.org/drawingml/2006/main">
              <a:ext uri="{FF2B5EF4-FFF2-40B4-BE49-F238E27FC236}">
                <a16:creationId xmlns:a16="http://schemas.microsoft.com/office/drawing/2014/main" id="{D8C913FC-2D33-4EA5-BB45-1B7EEEC3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الأدلة الحالية وما يلزم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E7233-3D45-4C45-BB58-84416F568F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dc26fa2a641de">
            <a:extLst>
              <a:ext uri="{96DAC541-7B7A-43D3-8B79-37D633B846F1}">
                <asvg:svgBlip xmlns:asvg="http://schemas.microsoft.com/office/drawing/2016/SVG/main" r:embed="R0fcf890b5ad14b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20450" y="6143625"/>
            <a:ext cx="2857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36681E52-EBAE-4D28-9271-0987362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4" name="موجود في المشروع">
            <a:extLst xmlns:a="http://schemas.openxmlformats.org/drawingml/2006/main">
              <a:ext uri="{FF2B5EF4-FFF2-40B4-BE49-F238E27FC236}">
                <a16:creationId xmlns:a16="http://schemas.microsoft.com/office/drawing/2014/main" id="{2BEAF939-9453-421D-8999-449181B0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533525"/>
            <a:ext cx="4543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325" b="1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325" b="1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rPr>
              <a:t>موجود في المشروع</a:t>
            </a:r>
          </a:p>
        </p:txBody>
      </p:sp>
      <p:sp>
        <p:nvSpPr>
          <p:cNvPr id="5" name="مطلوب للتحقق">
            <a:extLst xmlns:a="http://schemas.openxmlformats.org/drawingml/2006/main">
              <a:ext uri="{FF2B5EF4-FFF2-40B4-BE49-F238E27FC236}">
                <a16:creationId xmlns:a16="http://schemas.microsoft.com/office/drawing/2014/main" id="{AB7995F3-9376-45C7-B7D3-7F2C5209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5010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325" b="1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325" b="1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rPr>
              <a:t>مطلوب للتحقق</a:t>
            </a:r>
          </a:p>
        </p:txBody>
      </p:sp>
      <p:sp>
        <p:nvSpPr>
          <p:cNvPr id="6" name="نطاق موثّق ومصدر واستخدام محددان">
            <a:extLst xmlns:a="http://schemas.openxmlformats.org/drawingml/2006/main">
              <a:ext uri="{FF2B5EF4-FFF2-40B4-BE49-F238E27FC236}">
                <a16:creationId xmlns:a16="http://schemas.microsoft.com/office/drawing/2014/main" id="{6822AAAB-87CA-427B-9D95-AABB4B1F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66975"/>
            <a:ext cx="4543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نطاق موثّق ومصدر واستخدام محددان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35CA8-F64B-494A-942F-F96E27C5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289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8" name="تصميم مفاهيمي ومستكشف تعليمي">
            <a:extLst xmlns:a="http://schemas.openxmlformats.org/drawingml/2006/main">
              <a:ext uri="{FF2B5EF4-FFF2-40B4-BE49-F238E27FC236}">
                <a16:creationId xmlns:a16="http://schemas.microsoft.com/office/drawing/2014/main" id="{078D2930-F43B-4C5D-B5CE-D29A1512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90875"/>
            <a:ext cx="4543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تصميم مفاهيمي ومستكشف تعليمي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0D2D6-4656-46B7-8A3E-C90EE64A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528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10" name="قواعد تشغيل وسيناريوهات محاكاة">
            <a:extLst xmlns:a="http://schemas.openxmlformats.org/drawingml/2006/main">
              <a:ext uri="{FF2B5EF4-FFF2-40B4-BE49-F238E27FC236}">
                <a16:creationId xmlns:a16="http://schemas.microsoft.com/office/drawing/2014/main" id="{06564A32-77B8-4332-B6CB-B0BCDA29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914775"/>
            <a:ext cx="4543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قواعد تشغيل وسيناريوهات محاكاة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EACEF-1051-443F-908B-608B4477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4767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12" name="مراجع علمية وخطة اختبار">
            <a:extLst xmlns:a="http://schemas.openxmlformats.org/drawingml/2006/main">
              <a:ext uri="{FF2B5EF4-FFF2-40B4-BE49-F238E27FC236}">
                <a16:creationId xmlns:a16="http://schemas.microsoft.com/office/drawing/2014/main" id="{EABE0CFD-613B-454F-83F5-7F686255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38675"/>
            <a:ext cx="4543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مراجع علمية وخطة اختبار</a:t>
            </a:r>
          </a:p>
        </p:txBody>
      </p:sp>
      <p:sp>
        <p:nvSpPr>
          <p:cNvPr id="13" name="قياسات المصدر وطلب الري في الموقع">
            <a:extLst xmlns:a="http://schemas.openxmlformats.org/drawingml/2006/main">
              <a:ext uri="{FF2B5EF4-FFF2-40B4-BE49-F238E27FC236}">
                <a16:creationId xmlns:a16="http://schemas.microsoft.com/office/drawing/2014/main" id="{0E4CCCB5-05CE-41F0-B069-52AC8CB9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01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قياسات المصدر وطلب الري في الموقع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E39B5-137A-43E7-9C7B-F1FDFFB9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15" name="نتائج مخبرية وبيانات خام قابلة للفحص">
            <a:extLst xmlns:a="http://schemas.openxmlformats.org/drawingml/2006/main">
              <a:ext uri="{FF2B5EF4-FFF2-40B4-BE49-F238E27FC236}">
                <a16:creationId xmlns:a16="http://schemas.microsoft.com/office/drawing/2014/main" id="{DE99087D-BAD2-425B-B184-50812F1E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01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نتائج مخبرية وبيانات خام قابلة للفحص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FEFFE-F026-40AA-ADBC-01B5884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17" name="اختبارات صمام وطاقة على منصة مادية">
            <a:extLst xmlns:a="http://schemas.openxmlformats.org/drawingml/2006/main">
              <a:ext uri="{FF2B5EF4-FFF2-40B4-BE49-F238E27FC236}">
                <a16:creationId xmlns:a16="http://schemas.microsoft.com/office/drawing/2014/main" id="{223223A8-9209-4368-B21A-E358A2A3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501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اختبارات صمام وطاقة على منصة مادية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01A0F-6306-414D-A18A-16AE9ABA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19" name="مراجعة موقع وتكلفة واهتمام عميل">
            <a:extLst xmlns:a="http://schemas.openxmlformats.org/drawingml/2006/main">
              <a:ext uri="{FF2B5EF4-FFF2-40B4-BE49-F238E27FC236}">
                <a16:creationId xmlns:a16="http://schemas.microsoft.com/office/drawing/2014/main" id="{92F06EA1-F72F-434F-89B2-70BCEDB1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01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مراجعة موقع وتكلفة واهتمام عميل</a:t>
            </a:r>
          </a:p>
        </p:txBody>
      </p:sp>
      <p:sp>
        <p:nvSpPr>
          <p:cNvPr id="20" name="الحالة الحالية: تصميم مفاهيمي وخطة تحقق">
            <a:extLst xmlns:a="http://schemas.openxmlformats.org/drawingml/2006/main">
              <a:ext uri="{FF2B5EF4-FFF2-40B4-BE49-F238E27FC236}">
                <a16:creationId xmlns:a16="http://schemas.microsoft.com/office/drawing/2014/main" id="{17222429-666D-4AF0-B809-123D6BD2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95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95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الحالة الحالية: تصميم مفاهيمي وخطة تحقق</a:t>
            </a:r>
          </a:p>
        </p:txBody>
      </p:sp>
    </p:spTree>
    <p:extLst>
      <p:ext uri="{BB962C8B-B14F-4D97-AF65-F5344CB8AC3E}">
        <p14:creationId xmlns:p14="http://schemas.microsoft.com/office/powerpoint/2010/main" val="353282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خارطة الاختبار المقترح">
            <a:extLst xmlns:a="http://schemas.openxmlformats.org/drawingml/2006/main">
              <a:ext uri="{FF2B5EF4-FFF2-40B4-BE49-F238E27FC236}">
                <a16:creationId xmlns:a16="http://schemas.microsoft.com/office/drawing/2014/main" id="{AC5C7A6A-5DBC-4350-97BD-2959214A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330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خارطة الاختبار المقترح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5B199-36F2-422D-A128-E0BD38CCBE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b6b8752794b5e">
            <a:extLst>
              <a:ext uri="{96DAC541-7B7A-43D3-8B79-37D633B846F1}">
                <asvg:svgBlip xmlns:asvg="http://schemas.microsoft.com/office/drawing/2016/SVG/main" r:embed="R56a7754beb154e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20450" y="6143625"/>
            <a:ext cx="2857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7DC60CD9-EB57-4870-AB0A-192263B5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64C51B74-99EC-4FB2-A731-10B7EDCE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716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77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defRPr sz="277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توصيف الموقع">
            <a:extLst xmlns:a="http://schemas.openxmlformats.org/drawingml/2006/main">
              <a:ext uri="{FF2B5EF4-FFF2-40B4-BE49-F238E27FC236}">
                <a16:creationId xmlns:a16="http://schemas.microsoft.com/office/drawing/2014/main" id="{288DF658-AEE1-48CB-BCE0-A7AD5335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81150"/>
            <a:ext cx="3324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3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3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توصيف الموقع</a:t>
            </a:r>
          </a:p>
        </p:txBody>
      </p:sp>
      <p:sp>
        <p:nvSpPr>
          <p:cNvPr id="6" name="قياس المصدر والطلب، ورسم فصل التصريف">
            <a:extLst xmlns:a="http://schemas.openxmlformats.org/drawingml/2006/main">
              <a:ext uri="{FF2B5EF4-FFF2-40B4-BE49-F238E27FC236}">
                <a16:creationId xmlns:a16="http://schemas.microsoft.com/office/drawing/2014/main" id="{3602C363-91A6-4E48-8205-D9D1F425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65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قياس المصدر والطلب، ورسم فصل التصريف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9403A-792E-4A42-99BC-E1DD017E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6AC9FC86-7129-4CDA-9AB8-12EB51E7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384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77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defRPr sz="277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اختبار مخبري">
            <a:extLst xmlns:a="http://schemas.openxmlformats.org/drawingml/2006/main">
              <a:ext uri="{FF2B5EF4-FFF2-40B4-BE49-F238E27FC236}">
                <a16:creationId xmlns:a16="http://schemas.microsoft.com/office/drawing/2014/main" id="{8A37C444-2EF9-4A36-B91B-0ED76FCA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3324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3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3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اختبار مخبري</a:t>
            </a:r>
          </a:p>
        </p:txBody>
      </p:sp>
      <p:sp>
        <p:nvSpPr>
          <p:cNvPr id="10" name="مقارنة المعالجة وتوثيق جودة الماء والمادة">
            <a:extLst xmlns:a="http://schemas.openxmlformats.org/drawingml/2006/main">
              <a:ext uri="{FF2B5EF4-FFF2-40B4-BE49-F238E27FC236}">
                <a16:creationId xmlns:a16="http://schemas.microsoft.com/office/drawing/2014/main" id="{0A8221F1-D74A-4B85-9350-69E48379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65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مقارنة المعالجة وتوثيق جودة الماء والمادة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62AAD-8D36-4835-B7FD-9B472E98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2B15CB99-A100-45F3-B027-4AE13D4F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052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77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defRPr sz="277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منصة تحكم مادية">
            <a:extLst xmlns:a="http://schemas.openxmlformats.org/drawingml/2006/main">
              <a:ext uri="{FF2B5EF4-FFF2-40B4-BE49-F238E27FC236}">
                <a16:creationId xmlns:a16="http://schemas.microsoft.com/office/drawing/2014/main" id="{3BCC1386-603C-4185-87A8-F8C7A668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14750"/>
            <a:ext cx="3324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3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3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منصة تحكم مادية</a:t>
            </a:r>
          </a:p>
        </p:txBody>
      </p:sp>
      <p:sp>
        <p:nvSpPr>
          <p:cNvPr id="14" name="اختبارات الأعطال وتسجيل استجابة المخرج">
            <a:extLst xmlns:a="http://schemas.openxmlformats.org/drawingml/2006/main">
              <a:ext uri="{FF2B5EF4-FFF2-40B4-BE49-F238E27FC236}">
                <a16:creationId xmlns:a16="http://schemas.microsoft.com/office/drawing/2014/main" id="{33FF7411-F7BB-47F6-A8D8-EB367564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65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اختبارات الأعطال وتسجيل استجابة المخرج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E7F3F-06B1-43E8-A433-02AA5850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CFBA"/>
            </a:solidFill>
          </a:ln>
        </p:spPr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19B1A072-3F73-4813-8B21-5D13037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720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77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defRPr sz="2775" b="1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7" name="قرار تجربة محدودة">
            <a:extLst xmlns:a="http://schemas.openxmlformats.org/drawingml/2006/main">
              <a:ext uri="{FF2B5EF4-FFF2-40B4-BE49-F238E27FC236}">
                <a16:creationId xmlns:a16="http://schemas.microsoft.com/office/drawing/2014/main" id="{D0F81D57-254E-40CD-9C82-FEB0BB3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81550"/>
            <a:ext cx="3324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3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325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قرار تجربة محدودة</a:t>
            </a:r>
          </a:p>
        </p:txBody>
      </p:sp>
      <p:sp>
        <p:nvSpPr>
          <p:cNvPr id="18" name="مراجعات وموافقات وجدوى تشغيل وتكلفة">
            <a:extLst xmlns:a="http://schemas.openxmlformats.org/drawingml/2006/main">
              <a:ext uri="{FF2B5EF4-FFF2-40B4-BE49-F238E27FC236}">
                <a16:creationId xmlns:a16="http://schemas.microsoft.com/office/drawing/2014/main" id="{4662FFAF-7A9E-4305-94DC-DDE6B303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65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مراجعات وموافقات وجدوى تشغيل وتكلفة</a:t>
            </a:r>
          </a:p>
        </p:txBody>
      </p:sp>
      <p:sp>
        <p:nvSpPr>
          <p:cNvPr id="19" name="لكل انتقال دليل معلن قبل بدء التجربة">
            <a:extLst xmlns:a="http://schemas.openxmlformats.org/drawingml/2006/main">
              <a:ext uri="{FF2B5EF4-FFF2-40B4-BE49-F238E27FC236}">
                <a16:creationId xmlns:a16="http://schemas.microsoft.com/office/drawing/2014/main" id="{BE93395C-2F6E-4B2D-8F49-DBCFFEE9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875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875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rPr>
              <a:t>لكل انتقال دليل معلن قبل بدء التجربة</a:t>
            </a:r>
          </a:p>
        </p:txBody>
      </p:sp>
    </p:spTree>
    <p:extLst>
      <p:ext uri="{BB962C8B-B14F-4D97-AF65-F5344CB8AC3E}">
        <p14:creationId xmlns:p14="http://schemas.microsoft.com/office/powerpoint/2010/main" val="19409298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6E5E7-ED1E-4020-BA00-CE6C137101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2cdafe99f4b65">
            <a:extLst>
              <a:ext uri="{96DAC541-7B7A-43D3-8B79-37D633B846F1}">
                <asvg:svgBlip xmlns:asvg="http://schemas.microsoft.com/office/drawing/2016/SVG/main" r:embed="R638c17aeed2e46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20450" y="6143625"/>
            <a:ext cx="2857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41934C31-5AD5-49CD-A07E-EDD7E29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9786A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39786A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00B4C-554C-4019-9AC0-C530C064D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9a148524e4832"/>
          <a:srcRect xmlns:a="http://schemas.openxmlformats.org/drawingml/2006/main" l="4231" t="0" r="42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38250"/>
            <a:ext cx="6553200" cy="4029075"/>
          </a:xfrm>
          <a:prstGeom xmlns:a="http://schemas.openxmlformats.org/drawingml/2006/main" prst="rect">
            <a:avLst/>
          </a:prstGeom>
        </p:spPr>
      </p:pic>
      <p:sp>
        <p:nvSpPr>
          <p:cNvPr id="4" name="صورة مولّدة · تصور تطبيقي غير منفّذ">
            <a:extLst xmlns:a="http://schemas.openxmlformats.org/drawingml/2006/main">
              <a:ext uri="{FF2B5EF4-FFF2-40B4-BE49-F238E27FC236}">
                <a16:creationId xmlns:a16="http://schemas.microsoft.com/office/drawing/2014/main" id="{12EF3579-9BC1-4702-A0F4-1F95F24C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655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1350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1350" b="0" lang="ar-SA">
                <a:solidFill>
                  <a:srgbClr val="39786A"/>
                </a:solidFill>
                <a:latin typeface="IBM Plex Sans Arabic"/>
                <a:ea typeface="IBM Plex Sans Arabic"/>
                <a:cs typeface="IBM Plex Sans Arabic"/>
              </a:rPr>
              <a:t>صورة مولّدة · تصور تطبيقي غير منفّذ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ABBA3-472C-482A-A201-EF3FA16D0D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34f86e54947c9">
            <a:extLst>
              <a:ext uri="{96DAC541-7B7A-43D3-8B79-37D633B846F1}">
                <asvg:svgBlip xmlns:asvg="http://schemas.microsoft.com/office/drawing/2016/SVG/main" r:embed="R8127736d307143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0" y="1152525"/>
            <a:ext cx="3219450" cy="990600"/>
          </a:xfrm>
          <a:prstGeom xmlns:a="http://schemas.openxmlformats.org/drawingml/2006/main" prst="rect">
            <a:avLst/>
          </a:prstGeom>
        </p:spPr>
      </p:pic>
      <p:sp>
        <p:nvSpPr>
          <p:cNvPr id="6" name="استخدام واضح&#10;وأثر قابل للقياس">
            <a:extLst xmlns:a="http://schemas.openxmlformats.org/drawingml/2006/main">
              <a:ext uri="{FF2B5EF4-FFF2-40B4-BE49-F238E27FC236}">
                <a16:creationId xmlns:a16="http://schemas.microsoft.com/office/drawing/2014/main" id="{28EC1485-2B0A-4F0A-82D3-464721BB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781300"/>
            <a:ext cx="38766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450" b="1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345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345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استخدام واضح</a:t>
            </a:r>
          </a:p>
          <a:p xmlns:a="http://schemas.openxmlformats.org/drawingml/2006/main">
            <a:pPr algn="r" rtl="1">
              <a:defRPr sz="345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3450" b="1" lang="ar-SA">
                <a:solidFill>
                  <a:srgbClr val="123E35"/>
                </a:solidFill>
                <a:latin typeface="IBM Plex Sans Arabic"/>
                <a:ea typeface="IBM Plex Sans Arabic"/>
                <a:cs typeface="IBM Plex Sans Arabic"/>
              </a:rPr>
              <a:t>وأثر قابل للقياس</a:t>
            </a:r>
          </a:p>
        </p:txBody>
      </p:sp>
      <p:sp>
        <p:nvSpPr>
          <p:cNvPr id="7" name="الخطوة التالية: توصيف موقع جامعي صالح للاختبار">
            <a:extLst xmlns:a="http://schemas.openxmlformats.org/drawingml/2006/main">
              <a:ext uri="{FF2B5EF4-FFF2-40B4-BE49-F238E27FC236}">
                <a16:creationId xmlns:a16="http://schemas.microsoft.com/office/drawing/2014/main" id="{52F3D089-E4E5-4E2A-8BF2-F0F2C470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705350"/>
            <a:ext cx="38766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defPPr>
          </a:lstStyle>
          <a:p xmlns:a="http://schemas.openxmlformats.org/drawingml/2006/main">
            <a:pPr algn="r" rtl="1">
              <a:def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defRPr>
            </a:pPr>
            <a:r>
              <a:rPr sz="2025" b="0" lang="ar-SA">
                <a:solidFill>
                  <a:srgbClr val="243D38"/>
                </a:solidFill>
                <a:latin typeface="IBM Plex Sans Arabic"/>
                <a:ea typeface="IBM Plex Sans Arabic"/>
                <a:cs typeface="IBM Plex Sans Arabic"/>
              </a:rPr>
              <a:t>الخطوة التالية: توصيف موقع جامعي صالح للاختبار</a:t>
            </a:r>
          </a:p>
        </p:txBody>
      </p:sp>
    </p:spTree>
    <p:extLst>
      <p:ext uri="{BB962C8B-B14F-4D97-AF65-F5344CB8AC3E}">
        <p14:creationId xmlns:p14="http://schemas.microsoft.com/office/powerpoint/2010/main" val="1647712520"/>
      </p:ext>
    </p:extLst>
  </p:cSld>
</p:sld>
</file>

<file path=ppt/theme/theme1.xml><?xml version="1.0" encoding="utf-8"?>
<a:theme xmlns:a="http://schemas.openxmlformats.org/drawingml/2006/main" name="ChatGPT">
  <a:themeElements>
    <a:clrScheme name="MAWRID · Campus Light">
      <a:dk1>
        <a:srgbClr val="243D38"/>
      </a:dk1>
      <a:lt1>
        <a:srgbClr val="F7FAF6"/>
      </a:lt1>
      <a:dk2>
        <a:srgbClr val="123E35"/>
      </a:dk2>
      <a:lt2>
        <a:srgbClr val="E9F3EF"/>
      </a:lt2>
      <a:accent1>
        <a:srgbClr val="123E35"/>
      </a:accent1>
      <a:accent2>
        <a:srgbClr val="39786A"/>
      </a:accent2>
      <a:accent3>
        <a:srgbClr val="B4CFBA"/>
      </a:accent3>
      <a:accent4>
        <a:srgbClr val="D9CCBA"/>
      </a:accent4>
      <a:accent5>
        <a:srgbClr val="E9F3EF"/>
      </a:accent5>
      <a:accent6>
        <a:srgbClr val="243D38"/>
      </a:accent6>
      <a:hlink>
        <a:srgbClr val="39786A"/>
      </a:hlink>
      <a:folHlink>
        <a:srgbClr val="123E35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AWRID · Campus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2026-10-10T17:11:03.9740000Z</dcterms:created>
  <dcterms:modified xsi:type="dcterms:W3CDTF">2026-10-10T17:11:03.9740000Z</dcterms:modified>
</coreProperties>
</file>